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v6 Student Baseline (%)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Clean Image AUC</c:v>
                </c:pt>
                <c:pt idx="1">
                  <c:v>Laundered Q85 AUC</c:v>
                </c:pt>
                <c:pt idx="2">
                  <c:v>Image TPR@1%FPR</c:v>
                </c:pt>
                <c:pt idx="3">
                  <c:v>Audio Sealed 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71.5</c:v>
                </c:pt>
                <c:pt idx="1">
                  <c:v>69.7</c:v>
                </c:pt>
                <c:pt idx="2">
                  <c:v>4.0</c:v>
                </c:pt>
                <c:pt idx="3">
                  <c:v>87.5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v7 Shipped Release (%)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Clean Image AUC</c:v>
                </c:pt>
                <c:pt idx="1">
                  <c:v>Laundered Q85 AUC</c:v>
                </c:pt>
                <c:pt idx="2">
                  <c:v>Image TPR@1%FPR</c:v>
                </c:pt>
                <c:pt idx="3">
                  <c:v>Audio Sealed 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89.4</c:v>
                </c:pt>
                <c:pt idx="1">
                  <c:v>90.0</c:v>
                </c:pt>
                <c:pt idx="2">
                  <c:v>28.0</c:v>
                </c:pt>
                <c:pt idx="3">
                  <c:v>87.5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0F172A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(Rs Crores)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India/SEA SAM</c:v>
                </c:pt>
                <c:pt idx="1">
                  <c:v>B2B SDK SAM</c:v>
                </c:pt>
                <c:pt idx="2">
                  <c:v>B2C App SAM</c:v>
                </c:pt>
                <c:pt idx="3">
                  <c:v>3-Yr Target SOM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6800</c:v>
                </c:pt>
                <c:pt idx="1">
                  <c:v>3800</c:v>
                </c:pt>
                <c:pt idx="2">
                  <c:v>3000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 (Rs Lakhs)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Sheet1!$A$2:$A$6</c:f>
              <c:strCache>
                <c:ptCount val="5"/>
                <c:pt idx="0">
                  <c:v>ML &amp; Android Eng (OpEx)</c:v>
                </c:pt>
                <c:pt idx="1">
                  <c:v>GPU &amp; B-Free Data (CapEx)</c:v>
                </c:pt>
                <c:pt idx="2">
                  <c:v>Device NPU Matrix (CapEx)</c:v>
                </c:pt>
                <c:pt idx="3">
                  <c:v>B2B Pilots &amp; Beta (OpEx)</c:v>
                </c:pt>
                <c:pt idx="4">
                  <c:v>Patents &amp; RBI Audit (OpEx)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5.25</c:v>
                </c:pt>
                <c:pt idx="2">
                  <c:v>3.5</c:v>
                </c:pt>
                <c:pt idx="3">
                  <c:v>3.5</c:v>
                </c:pt>
                <c:pt idx="4">
                  <c:v>3.25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8BDF8"/>
                </a:solidFill>
                <a:latin typeface="Inter"/>
              </a:rPr>
              <a:t>Z21 STARTUP ACCELERATION PROGRAM  |  KGP FORGE</a:t>
            </a:r>
          </a:p>
          <a:p>
            <a:pPr>
              <a:spcAft>
                <a:spcPts val="1600"/>
              </a:spcAft>
            </a:pPr>
            <a:r>
              <a:rPr sz="4600" b="1">
                <a:solidFill>
                  <a:srgbClr val="F8FAFC"/>
                </a:solidFill>
                <a:latin typeface="Inter Display"/>
              </a:rPr>
              <a:t>ONN-DETECT: Zero-Cloud AI Media Forensics</a:t>
            </a:r>
          </a:p>
          <a:p>
            <a:r>
              <a:rPr sz="2000">
                <a:solidFill>
                  <a:srgbClr val="94A3B8"/>
                </a:solidFill>
                <a:latin typeface="Inter"/>
              </a:rPr>
              <a:t>On-device deepfake, voice-clone, and cyber-fraud defense in under 180 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Inter"/>
              </a:rPr>
              <a:t>Domain: AI &amp; Deep Tech  |  Stage: Pre-Seed (TRL 6-7 Validated Prototype)  | 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THE CORE PROBLEM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Cloud Costs, Privacy Laws, and Compression Break Legacy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Live Voice &amp; UPI Fraud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Voice-Clone Scams: </a:t>
            </a:r>
            <a:r>
              <a:rPr sz="1500" b="0">
                <a:solidFill>
                  <a:srgbClr val="475569"/>
                </a:solidFill>
                <a:latin typeface="Inter"/>
              </a:rPr>
              <a:t>Live AI voice calls and digital-arrest threats coerce instant UPI transfers.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Forged Screenshots: </a:t>
            </a:r>
            <a:r>
              <a:rPr sz="1500" b="0">
                <a:solidFill>
                  <a:srgbClr val="475569"/>
                </a:solidFill>
                <a:latin typeface="Inter"/>
              </a:rPr>
              <a:t>AI-edited payment receipts and fake invoices defraud merchants daily.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Zero In-Call Guard: </a:t>
            </a:r>
            <a:r>
              <a:rPr sz="1500" b="0">
                <a:solidFill>
                  <a:srgbClr val="475569"/>
                </a:solidFill>
                <a:latin typeface="Inter"/>
              </a:rPr>
              <a:t>Victims lack real-time verification while speaking on phone or WhatsApp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AI Slop &amp; KYC Spoofing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Short-Video Flooding: </a:t>
            </a:r>
            <a:r>
              <a:rPr sz="1500" b="0">
                <a:solidFill>
                  <a:srgbClr val="475569"/>
                </a:solidFill>
                <a:latin typeface="Inter"/>
              </a:rPr>
              <a:t>Unlabelled synthetic Reels and Shorts degrade consumer social feeds.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Video-KYC Injection: </a:t>
            </a:r>
            <a:r>
              <a:rPr sz="1500" b="0">
                <a:solidFill>
                  <a:srgbClr val="475569"/>
                </a:solidFill>
                <a:latin typeface="Inter"/>
              </a:rPr>
              <a:t>Deepfake faces and virtual cameras bypass bank and fintech onboarding.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Compression Collapse: </a:t>
            </a:r>
            <a:r>
              <a:rPr sz="1500" b="0">
                <a:solidFill>
                  <a:srgbClr val="475569"/>
                </a:solidFill>
                <a:latin typeface="Inter"/>
              </a:rPr>
              <a:t>Academic CNNs fail after WhatsApp JPEG Q85 or VoIP Opus re-encoding.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Cloud Unit Economics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Privacy Violations: </a:t>
            </a:r>
            <a:r>
              <a:rPr sz="1500" b="0">
                <a:solidFill>
                  <a:srgbClr val="475569"/>
                </a:solidFill>
                <a:latin typeface="Inter"/>
              </a:rPr>
              <a:t>Uploading calls and biometric KYC video violates DPDP Act and GDPR.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Unsustainable Cost: </a:t>
            </a:r>
            <a:r>
              <a:rPr sz="1500" b="0">
                <a:solidFill>
                  <a:srgbClr val="475569"/>
                </a:solidFill>
                <a:latin typeface="Inter"/>
              </a:rPr>
              <a:t>Cloud GPU APIs cost $0.02-$0.10 per scan, blocking continuous screening.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Offline Blindness: </a:t>
            </a:r>
            <a:r>
              <a:rPr sz="1500" b="0">
                <a:solidFill>
                  <a:srgbClr val="475569"/>
                </a:solidFill>
                <a:latin typeface="Inter"/>
              </a:rPr>
              <a:t>Server-dependent tools fail in low-connectivity field investigations.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Problem Statement &amp; Value Proposition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phone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4983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THE ONN-DETECT SOLUTION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Zero-Cloud Forensics at $0 Server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834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Zero-Network Sandbox: </a:t>
            </a:r>
            <a:r>
              <a:rPr sz="1500" b="0">
                <a:solidFill>
                  <a:srgbClr val="475569"/>
                </a:solidFill>
                <a:latin typeface="Inter"/>
              </a:rPr>
              <a:t>Strips INTERNET permission at the OS manifest level; private calls and biometrics stay on-device.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Sub-180 ms Edge Cascade: </a:t>
            </a:r>
            <a:r>
              <a:rPr sz="1500" b="0">
                <a:solidFill>
                  <a:srgbClr val="475569"/>
                </a:solidFill>
                <a:latin typeface="Inter"/>
              </a:rPr>
              <a:t>Unifies INT8 SigLIP-B/16, 36-ch SRM/NPR CNN, LCNN-MFM speech anti-spoofing (&lt;25 ms), and C2PA &amp; AudioSeal verification.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B2B2C Dual Deployment: </a:t>
            </a:r>
            <a:r>
              <a:rPr sz="1500" b="0">
                <a:solidFill>
                  <a:srgbClr val="475569"/>
                </a:solidFill>
                <a:latin typeface="Inter"/>
              </a:rPr>
              <a:t>Reaches 0.894 image AUC (0.900 under Q85 laundering) across a consumer app and enterprise KYC SDK.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4983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Zero-Cloud Edge Architecture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CONSUMER SECURITY SUITE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Real-Time Consumer Protection Across Calls, UPI, and Social Feeds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Scam-Call &amp; UPI Shield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Live 4s Scoring: </a:t>
            </a:r>
            <a:r>
              <a:rPr sz="1500" b="0">
                <a:solidFill>
                  <a:srgbClr val="475569"/>
                </a:solidFill>
                <a:latin typeface="Inter"/>
              </a:rPr>
              <a:t>LCNN-MFM (508 KiB) scores call windows in &lt;25 ms.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UPI Coercion Alert: </a:t>
            </a:r>
            <a:r>
              <a:rPr sz="1500" b="0">
                <a:solidFill>
                  <a:srgbClr val="475569"/>
                </a:solidFill>
                <a:latin typeface="Inter"/>
              </a:rPr>
              <a:t>Detects simultaneous call + GPay/PhonePe launch.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Pre-Payment Block: </a:t>
            </a:r>
            <a:r>
              <a:rPr sz="1500" b="0">
                <a:solidFill>
                  <a:srgbClr val="475569"/>
                </a:solidFill>
                <a:latin typeface="Inter"/>
              </a:rPr>
              <a:t>Warns users of synthetic voices before PIN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Family Voice Vault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15s Enrollment: </a:t>
            </a:r>
            <a:r>
              <a:rPr sz="1500" b="0">
                <a:solidFill>
                  <a:srgbClr val="475569"/>
                </a:solidFill>
                <a:latin typeface="Inter"/>
              </a:rPr>
              <a:t>Stores encrypted family voiceprints locally.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Dual Biometrics: </a:t>
            </a:r>
            <a:r>
              <a:rPr sz="1500" b="0">
                <a:solidFill>
                  <a:srgbClr val="475569"/>
                </a:solidFill>
                <a:latin typeface="Inter"/>
              </a:rPr>
              <a:t>Pairs SpeakerVerifier with LCNN anti-spoofing.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Clone Immunity: </a:t>
            </a:r>
            <a:r>
              <a:rPr sz="1500" b="0">
                <a:solidFill>
                  <a:srgbClr val="475569"/>
                </a:solidFill>
                <a:latin typeface="Inter"/>
              </a:rPr>
              <a:t>Blocks fake family emergency extortion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30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AI Reel Filter &amp; Forward Guard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Feed Automation: </a:t>
            </a:r>
            <a:r>
              <a:rPr sz="1500" b="0">
                <a:solidFill>
                  <a:srgbClr val="475569"/>
                </a:solidFill>
                <a:latin typeface="Inter"/>
              </a:rPr>
              <a:t>Uses Android 11+ Accessibility gesture APIs.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Auto-Swipe &amp; HUD: </a:t>
            </a:r>
            <a:r>
              <a:rPr sz="1500" b="0">
                <a:solidFill>
                  <a:srgbClr val="475569"/>
                </a:solidFill>
                <a:latin typeface="Inter"/>
              </a:rPr>
              <a:t>Swipes past AI Reels or displays a live corner authenticity badge.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WhatsApp/Share Guard: </a:t>
            </a:r>
            <a:r>
              <a:rPr sz="1500" b="0">
                <a:solidFill>
                  <a:srgbClr val="475569"/>
                </a:solidFill>
                <a:latin typeface="Inter"/>
              </a:rPr>
              <a:t>1-tap Share Sheet check on forwarded voice notes, viral videos, and QR scams.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Consumer Viral Wedge &amp; Daily Active Utility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hip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4983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ENTERPRISE B2B MONETIZATION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Offline SDK for Video-KYC &amp;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83480" cy="3931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Video-KYC Anti-Spoofing: </a:t>
            </a:r>
            <a:r>
              <a:rPr sz="1500" b="0">
                <a:solidFill>
                  <a:srgbClr val="475569"/>
                </a:solidFill>
                <a:latin typeface="Inter"/>
              </a:rPr>
              <a:t>Blocks face-swaps, voice clones, and virtual-camera injection for RBI V-CIP and SEBI compliance.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Hardware-Signed Receipts: </a:t>
            </a:r>
            <a:r>
              <a:rPr sz="1500" b="0">
                <a:solidFill>
                  <a:srgbClr val="475569"/>
                </a:solidFill>
                <a:latin typeface="Inter"/>
              </a:rPr>
              <a:t>Signs scan verdicts, media SHA-256, and model hashes inside Android StrongBox Keystore TEE.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Receipt &amp; ID Forgery Guard: </a:t>
            </a:r>
            <a:r>
              <a:rPr sz="1500" b="0">
                <a:solidFill>
                  <a:srgbClr val="475569"/>
                </a:solidFill>
                <a:latin typeface="Inter"/>
              </a:rPr>
              <a:t>Pinpoints spliced amounts on UPI screenshots and saves enterprises $0.02-$0.10 per KYC scan.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4983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Enterprise B2B SDK Suite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CORE TECHNOLOGICAL INNOVATION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Four ML-Systems Breakthroughs Make ONN-DETECT Hard to Replicate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Base-Margin Cascade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Continuous Tail Order: </a:t>
            </a:r>
            <a:r>
              <a:rPr sz="1500" b="0">
                <a:solidFill>
                  <a:srgbClr val="475569"/>
                </a:solidFill>
                <a:latin typeface="Inter"/>
              </a:rPr>
              <a:t>Injects INT8 SigLIP-B/16 logit as XGBoost base_margin to prevent tree step-ties.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36-Ch SRM + NPR: </a:t>
            </a:r>
            <a:r>
              <a:rPr sz="1500" b="0">
                <a:solidFill>
                  <a:srgbClr val="475569"/>
                </a:solidFill>
                <a:latin typeface="Inter"/>
              </a:rPr>
              <a:t>Combines 30 locked 5x5 SRM high-pass filters with Neighboring Pixel Residuals.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Selective Arbitration: </a:t>
            </a:r>
            <a:r>
              <a:rPr sz="1500" b="0">
                <a:solidFill>
                  <a:srgbClr val="475569"/>
                </a:solidFill>
                <a:latin typeface="Inter"/>
              </a:rPr>
              <a:t>Escalation band maximizes selective accuracy under a &gt;=85% classified-rate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ViT-to-LiteRT Compiler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1.97e-06 FP32 Parity: </a:t>
            </a:r>
            <a:r>
              <a:rPr sz="1500" b="0">
                <a:solidFill>
                  <a:srgbClr val="475569"/>
                </a:solidFill>
                <a:latin typeface="Inter"/>
              </a:rPr>
              <a:t>Custom channels-last Keras mirror bypasses broken onnx2tf ViT shape inference.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Static MAP Queries: </a:t>
            </a:r>
            <a:r>
              <a:rPr sz="1500" b="0">
                <a:solidFill>
                  <a:srgbClr val="475569"/>
                </a:solidFill>
                <a:latin typeface="Inter"/>
              </a:rPr>
              <a:t>Pre-computes frozen attention-pooling queries, saving 589K weights at runtime.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Zero-Heap APK mmap: </a:t>
            </a:r>
            <a:r>
              <a:rPr sz="1500" b="0">
                <a:solidFill>
                  <a:srgbClr val="475569"/>
                </a:solidFill>
                <a:latin typeface="Inter"/>
              </a:rPr>
              <a:t>Maps the 89.96 MB INT8 tower into OS page cache with 0 MB Java heap bloat.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114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Keys-Bicubic &amp; DCPT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Bit-Exact Resampler: </a:t>
            </a:r>
            <a:r>
              <a:rPr sz="1500" b="0">
                <a:solidFill>
                  <a:srgbClr val="475569"/>
                </a:solidFill>
                <a:latin typeface="Inter"/>
              </a:rPr>
              <a:t>Custom two-pass Keys-cubic (a=-0.5) filter with 8-bit clip matches Pillow +/-1.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DCPT Paired Loss: </a:t>
            </a:r>
            <a:r>
              <a:rPr sz="1500" b="0">
                <a:solidFill>
                  <a:srgbClr val="475569"/>
                </a:solidFill>
                <a:latin typeface="Inter"/>
              </a:rPr>
              <a:t>Symmetric Bernoulli KL + penultimate cosine alignment hardens Q85 accuracy.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Categorical Provenance: </a:t>
            </a:r>
            <a:r>
              <a:rPr sz="1500" b="0">
                <a:solidFill>
                  <a:srgbClr val="475569"/>
                </a:solidFill>
                <a:latin typeface="Inter"/>
              </a:rPr>
              <a:t>Treats cryptographic manifests (C2PA) and neural watermarks (AudioSeal) as positive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Proprietary Architecture &amp; Trade Secret Toolchain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MEASURED BENCHMARK VALIDATION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v7 Tower Architecture Lifts Sealed Image AUC to 0.894 (+17.9 pts)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37960" y="2103120"/>
            <a:ext cx="4892040" cy="3840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7x Low-FPR Recall Gain: </a:t>
            </a:r>
            <a:r>
              <a:rPr sz="1500" b="0">
                <a:solidFill>
                  <a:srgbClr val="475569"/>
                </a:solidFill>
                <a:latin typeface="Inter"/>
              </a:rPr>
              <a:t>Base-margin VFM fusion lifts image TPR@1%FPR from 4.0% to 28.0% and TPR@0.1%FPR to 25.0%.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0.900 Laundered AUC: </a:t>
            </a:r>
            <a:r>
              <a:rPr sz="1500" b="0">
                <a:solidFill>
                  <a:srgbClr val="475569"/>
                </a:solidFill>
                <a:latin typeface="Inter"/>
              </a:rPr>
              <a:t>Re-encoding test images to 512px JPEG Q85 raises v7 AUC to 0.900, proving social-feed resilience.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0.875 Speech &amp; 309 Gates: </a:t>
            </a:r>
            <a:r>
              <a:rPr sz="1500" b="0">
                <a:solidFill>
                  <a:srgbClr val="475569"/>
                </a:solidFill>
                <a:latin typeface="Inter"/>
              </a:rPr>
              <a:t>LCNN-MFM reaches 59.5% TPR@1%FPR, backed by 309 automated Python and Kotlin parity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Source: ONN-DETECT v7 Sealed Benchmark (3,600 Image / 68 Generators &amp; 2,400 Audio Records)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COMPETITIVE LANDSCAPE &amp; IP STATUS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TRL 6-7 System Prototype with Structural Privacy and Cost Moats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926080"/>
                <a:gridCol w="256032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Capability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ONN-DETECT (v7)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Cloud Deepfake APIs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Academic CNNs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Execution &amp; Privacy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100% On-Device (0 Cloud)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Cloud Upload (DPDP Risk)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Desktop GPU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Marginal Cost / Scan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Rs 0.00 ($0 Server Cost)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Rs 1.70 - Rs 8.40 / Scan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N/A (Not Deployed)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512px JPEG Q85 Laundering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0.900 AUC (Hardened)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0.72 - 0.81 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Collapses (&lt;0.65 AUC)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Live Call &amp; Reel Auto-Skip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Yes (&lt;25 ms Audio / &lt;180 ms)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Impossible (1-3s Network Lag)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No Mobile Runtime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Readiness &amp; Provenance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563EB"/>
                          </a:solidFill>
                          <a:latin typeface="Inter"/>
                        </a:rPr>
                        <a:t>TRL 6-7 | StrongBox TEE | IP Pipeline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Cloud SaaS | Server TLS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TRL 2-3 Lab Papers | 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TRL 6-7 Validated Prototype  |  IP: Trade Secret &amp; Provisional Patent Pipeline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MARKET SIZE &amp; COMMERCIAL MODEL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Targeting a Rs 6,800 Cr On-Device SAM and Rs 85 Cr 3-Year SOM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303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55080" y="2103120"/>
            <a:ext cx="5074920" cy="3840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Global TAM (Rs 62,000 Cr): </a:t>
            </a:r>
            <a:r>
              <a:rPr sz="1500" b="0">
                <a:solidFill>
                  <a:srgbClr val="475569"/>
                </a:solidFill>
                <a:latin typeface="Inter"/>
              </a:rPr>
              <a:t>$7.4B global deepfake defense, Video-KYC anti-spoofing, and mobile voice-fraud market.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B2B SDK (Rs 52.5 Cr SOM): </a:t>
            </a:r>
            <a:r>
              <a:rPr sz="1500" b="0">
                <a:solidFill>
                  <a:srgbClr val="475569"/>
                </a:solidFill>
                <a:latin typeface="Inter"/>
              </a:rPr>
              <a:t>35 fintech, NBFC, and insurance clients at Rs 1.5 Cr avg ACV (Rs 20-Rs 40 per KYC/claim).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Inter"/>
              </a:rPr>
              <a:t>B2C &amp; Traction (Rs 32.5 Cr SOM): </a:t>
            </a:r>
            <a:r>
              <a:rPr sz="1500" b="0">
                <a:solidFill>
                  <a:srgbClr val="475569"/>
                </a:solidFill>
                <a:latin typeface="Inter"/>
              </a:rPr>
              <a:t>1.1M users at Rs 299/yr; TRL 6-7 v7 APK validated on 6,000 samples, starting pilot outreach.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B2B Enterprise SDK + B2C Consumer Subscription (B2B2C)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25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FUNDING ASK, RUNWAY &amp; KGP FORGE SUPPORT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Rs 25 Lakh Seed Grant Fuels a 12-Month Runway to Enterprise Pilots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2011680"/>
            <a:ext cx="4937760" cy="40690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2240280"/>
            <a:ext cx="4480560" cy="3611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0284C7"/>
                </a:solidFill>
                <a:latin typeface="Inter Display"/>
              </a:rPr>
              <a:t>Rs 25.00L Ask &amp; 12-Month Plan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Runway &amp; Burn: </a:t>
            </a:r>
            <a:r>
              <a:rPr sz="1500" b="0">
                <a:solidFill>
                  <a:srgbClr val="475569"/>
                </a:solidFill>
                <a:latin typeface="Inter"/>
              </a:rPr>
              <a:t>Bootstrapped at Rs 15K-25K/mo; Rs 2.08L/mo post-grant burn for 12-month runway.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CapEx (35% / Rs 8.75L): </a:t>
            </a:r>
            <a:r>
              <a:rPr sz="1500" b="0">
                <a:solidFill>
                  <a:srgbClr val="475569"/>
                </a:solidFill>
                <a:latin typeface="Inter"/>
              </a:rPr>
              <a:t>GPU compute for B-Free twins (Rs 5.25L) + Android NPU test matrix (Rs 3.50L).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OpEx (65% / Rs 16.25L) &amp; Support: </a:t>
            </a:r>
            <a:r>
              <a:rPr sz="1500" b="0">
                <a:solidFill>
                  <a:srgbClr val="475569"/>
                </a:solidFill>
                <a:latin typeface="Inter"/>
              </a:rPr>
              <a:t>Eng stipends (Rs 9.5L), pilots (Rs 3.5L), patents/audit (Rs 3.25L) + KGP Forge mentorship.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Inter"/>
              </a:rPr>
              <a:t>ONN-DETECT  |  Seed Grant Request: Rs 25,00,000 (Rs 25 Lakhs)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4200" b="1">
                <a:solidFill>
                  <a:srgbClr val="F8FAFC"/>
                </a:solidFill>
                <a:latin typeface="Inter Display"/>
              </a:rPr>
              <a:t>Authenticity at the Edge. Zero Cloud. Zero Compromise.</a:t>
            </a:r>
          </a:p>
          <a:p>
            <a:r>
              <a:rPr sz="2000">
                <a:solidFill>
                  <a:srgbClr val="38BDF8"/>
                </a:solidFill>
                <a:latin typeface="Inter"/>
              </a:rPr>
              <a:t>Thank You  —  ONN-DETECT  |  z21 Startup Acceleration Program (KGP Forge)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Founder: Shubham Kumar (IIT Kharagpur)  |  Repo: https://github.com/shubhamiitshk/Onn-Detect-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